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3" r:id="rId4"/>
    <p:sldId id="259" r:id="rId5"/>
    <p:sldId id="261" r:id="rId6"/>
    <p:sldId id="264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4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9BB355-9CD8-4E48-B264-FC776F08394E}" v="29" dt="2026-06-21T16:24:56.5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3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102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"/>
          </a:xfrm>
          <a:prstGeom prst="rect">
            <a:avLst/>
          </a:prstGeom>
          <a:solidFill>
            <a:srgbClr val="1E3A5A">
              <a:alpha val="30000"/>
            </a:srgbClr>
          </a:solidFill>
          <a:ln w="12700">
            <a:solidFill>
              <a:srgbClr val="1E3A5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9144"/>
          </a:xfrm>
          <a:prstGeom prst="rect">
            <a:avLst/>
          </a:prstGeom>
          <a:solidFill>
            <a:srgbClr val="1E3A5A">
              <a:alpha val="30000"/>
            </a:srgbClr>
          </a:solidFill>
          <a:ln w="12700">
            <a:solidFill>
              <a:srgbClr val="1E3A5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2011680"/>
            <a:ext cx="9144000" cy="9144"/>
          </a:xfrm>
          <a:prstGeom prst="rect">
            <a:avLst/>
          </a:prstGeom>
          <a:solidFill>
            <a:srgbClr val="1E3A5A">
              <a:alpha val="30000"/>
            </a:srgbClr>
          </a:solidFill>
          <a:ln w="12700">
            <a:solidFill>
              <a:srgbClr val="1E3A5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3017520"/>
            <a:ext cx="9144000" cy="9144"/>
          </a:xfrm>
          <a:prstGeom prst="rect">
            <a:avLst/>
          </a:prstGeom>
          <a:solidFill>
            <a:srgbClr val="1E3A5A">
              <a:alpha val="30000"/>
            </a:srgbClr>
          </a:solidFill>
          <a:ln w="12700">
            <a:solidFill>
              <a:srgbClr val="1E3A5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023360"/>
            <a:ext cx="9144000" cy="9144"/>
          </a:xfrm>
          <a:prstGeom prst="rect">
            <a:avLst/>
          </a:prstGeom>
          <a:solidFill>
            <a:srgbClr val="1E3A5A">
              <a:alpha val="30000"/>
            </a:srgbClr>
          </a:solidFill>
          <a:ln w="12700">
            <a:solidFill>
              <a:srgbClr val="1E3A5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548640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8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Nick’s Guitar Emporium 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Vintage Guitar &amp; Amp Trading Website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 flipV="1">
            <a:off x="320040" y="2240279"/>
            <a:ext cx="4423410" cy="45719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2468880"/>
            <a:ext cx="5029200" cy="2286000"/>
          </a:xfrm>
          <a:prstGeom prst="rect">
            <a:avLst/>
          </a:prstGeom>
          <a:solidFill>
            <a:srgbClr val="1A3050"/>
          </a:solidFill>
          <a:ln w="9525">
            <a:solidFill>
              <a:srgbClr val="243D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578608"/>
            <a:ext cx="4663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COURSEWORK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Nikolaos Vamvakas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Leonardos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Mageiros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8BA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ITC4214  Internet Programming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8BA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2026  ·  The American College of Greece</a:t>
            </a:r>
            <a:endParaRPr lang="en-US" sz="1300" dirty="0"/>
          </a:p>
        </p:txBody>
      </p:sp>
      <p:pic>
        <p:nvPicPr>
          <p:cNvPr id="13" name="Image 0"/>
          <p:cNvPicPr>
            <a:picLocks noChangeAspect="1"/>
          </p:cNvPicPr>
          <p:nvPr/>
        </p:nvPicPr>
        <p:blipFill>
          <a:blip r:embed="rId3">
            <a:alphaModFix amt="85000"/>
          </a:blip>
          <a:srcRect/>
          <a:stretch/>
        </p:blipFill>
        <p:spPr>
          <a:xfrm>
            <a:off x="5559552" y="2064004"/>
            <a:ext cx="3264408" cy="28381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57200" y="914400"/>
            <a:ext cx="8366760" cy="3749040"/>
          </a:xfrm>
          <a:prstGeom prst="rect">
            <a:avLst/>
          </a:prstGeom>
          <a:solidFill>
            <a:srgbClr val="1A3050"/>
          </a:solidFill>
          <a:ln w="9525">
            <a:solidFill>
              <a:srgbClr val="243D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Theme Description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64008" cy="64008"/>
          </a:xfrm>
          <a:prstGeom prst="line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795528"/>
            <a:ext cx="8229600" cy="13716"/>
          </a:xfrm>
          <a:prstGeom prst="rect">
            <a:avLst/>
          </a:prstGeom>
          <a:solidFill>
            <a:srgbClr val="243D5E"/>
          </a:solidFill>
          <a:ln w="12700">
            <a:solidFill>
              <a:srgbClr val="243D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9601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Guitar Shop?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94360" y="1353312"/>
            <a:ext cx="8092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endParaRPr lang="en-US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Passion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a blues guitarist, and I admire vintage guitars and amps!</a:t>
            </a:r>
          </a:p>
          <a:p>
            <a:pPr>
              <a:spcAft>
                <a:spcPts val="300"/>
              </a:spcAft>
              <a:buSzPct val="100000"/>
            </a:pPr>
            <a:endParaRPr lang="en-US" dirty="0"/>
          </a:p>
          <a:p>
            <a:pPr>
              <a:spcAft>
                <a:spcPts val="300"/>
              </a:spcAft>
              <a:buSzPct val="100000"/>
            </a:pPr>
            <a:endParaRPr lang="en-US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Context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quote-cjk-patch"/>
              </a:rPr>
              <a:t>a music gear website feels natural and allows for meaningful content</a:t>
            </a:r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endParaRPr lang="en-US" b="1" dirty="0"/>
          </a:p>
          <a:p>
            <a:pPr>
              <a:spcAft>
                <a:spcPts val="300"/>
              </a:spcAft>
              <a:buSzPct val="100000"/>
            </a:pPr>
            <a:endParaRPr lang="en-US" b="1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Relevance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quote-cjk-patch"/>
              </a:rPr>
              <a:t>vintage gear trading is a niche market, making the site both  		               believable and engaging</a:t>
            </a:r>
            <a:endParaRPr lang="en-US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BE12D63C-DB57-9FD2-CFF8-506086139612}"/>
              </a:ext>
            </a:extLst>
          </p:cNvPr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Nick’s Guitar Emporium  ·  Nikolaos Vamvakas  ·  ITC4214  ·  Summer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64008" cy="64008"/>
          </a:xfrm>
          <a:prstGeom prst="line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795528"/>
            <a:ext cx="8229600" cy="13716"/>
          </a:xfrm>
          <a:prstGeom prst="rect">
            <a:avLst/>
          </a:prstGeom>
          <a:solidFill>
            <a:srgbClr val="243D5E"/>
          </a:solidFill>
          <a:ln w="12700">
            <a:solidFill>
              <a:srgbClr val="243D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Nick’s Guitar Emporium  ·  Nikolaos Vamvakas  ·  ITC4214  ·  Summer 2026</a:t>
            </a:r>
            <a:endParaRPr lang="en-US" sz="9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7A2F39D-9190-0701-5512-375927C2CB38}"/>
              </a:ext>
            </a:extLst>
          </p:cNvPr>
          <p:cNvGrpSpPr/>
          <p:nvPr/>
        </p:nvGrpSpPr>
        <p:grpSpPr>
          <a:xfrm>
            <a:off x="365759" y="1041761"/>
            <a:ext cx="3806417" cy="1031962"/>
            <a:chOff x="365760" y="960120"/>
            <a:chExt cx="4114800" cy="1115568"/>
          </a:xfrm>
        </p:grpSpPr>
        <p:sp>
          <p:nvSpPr>
            <p:cNvPr id="7" name="Shape 5"/>
            <p:cNvSpPr/>
            <p:nvPr/>
          </p:nvSpPr>
          <p:spPr>
            <a:xfrm>
              <a:off x="365760" y="960120"/>
              <a:ext cx="4114800" cy="1115568"/>
            </a:xfrm>
            <a:prstGeom prst="rect">
              <a:avLst/>
            </a:prstGeom>
            <a:solidFill>
              <a:srgbClr val="1A3050"/>
            </a:solidFill>
            <a:ln w="9525">
              <a:solidFill>
                <a:srgbClr val="243D5E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3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365760" y="960120"/>
              <a:ext cx="64008" cy="1115568"/>
            </a:xfrm>
            <a:prstGeom prst="rect">
              <a:avLst/>
            </a:prstGeom>
            <a:solidFill>
              <a:srgbClr val="1B5EA6"/>
            </a:solidFill>
            <a:ln w="12700">
              <a:solidFill>
                <a:srgbClr val="1B5EA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548640" y="1051560"/>
              <a:ext cx="37947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HTML5</a:t>
              </a:r>
              <a:endParaRPr lang="en-US" sz="1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48640" y="1362456"/>
              <a:ext cx="379476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8BA5B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Core structural language for the website</a:t>
              </a:r>
              <a:endParaRPr lang="en-US" sz="14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3B42EC9-2514-A51C-BCC8-5D63B37093AB}"/>
              </a:ext>
            </a:extLst>
          </p:cNvPr>
          <p:cNvGrpSpPr/>
          <p:nvPr/>
        </p:nvGrpSpPr>
        <p:grpSpPr>
          <a:xfrm>
            <a:off x="4843696" y="1055477"/>
            <a:ext cx="3806417" cy="1031962"/>
            <a:chOff x="4754880" y="960120"/>
            <a:chExt cx="4114800" cy="1115568"/>
          </a:xfrm>
        </p:grpSpPr>
        <p:sp>
          <p:nvSpPr>
            <p:cNvPr id="11" name="Shape 9"/>
            <p:cNvSpPr/>
            <p:nvPr/>
          </p:nvSpPr>
          <p:spPr>
            <a:xfrm>
              <a:off x="4754880" y="960120"/>
              <a:ext cx="4114800" cy="1115568"/>
            </a:xfrm>
            <a:prstGeom prst="rect">
              <a:avLst/>
            </a:prstGeom>
            <a:solidFill>
              <a:srgbClr val="1A3050"/>
            </a:solidFill>
            <a:ln w="9525">
              <a:solidFill>
                <a:srgbClr val="243D5E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3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4754880" y="960120"/>
              <a:ext cx="64008" cy="1115568"/>
            </a:xfrm>
            <a:prstGeom prst="rect">
              <a:avLst/>
            </a:prstGeom>
            <a:solidFill>
              <a:srgbClr val="008F7E"/>
            </a:solidFill>
            <a:ln w="12700">
              <a:solidFill>
                <a:srgbClr val="008F7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4937760" y="1051560"/>
              <a:ext cx="37947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jQuery (JavaScript)</a:t>
              </a:r>
              <a:endParaRPr lang="en-US" sz="14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937760" y="1362456"/>
              <a:ext cx="379476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BA5B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Interactivity with DOM manipulation, event handling, theme switching and AJAX. Navbar and footer are common across page via a single script.</a:t>
              </a:r>
              <a:endParaRPr lang="en-US" sz="12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AA0269A-AE7D-3F99-075E-A36800149CFC}"/>
              </a:ext>
            </a:extLst>
          </p:cNvPr>
          <p:cNvGrpSpPr/>
          <p:nvPr/>
        </p:nvGrpSpPr>
        <p:grpSpPr>
          <a:xfrm>
            <a:off x="365759" y="2281043"/>
            <a:ext cx="3806417" cy="1031962"/>
            <a:chOff x="365760" y="2221992"/>
            <a:chExt cx="4114800" cy="1115568"/>
          </a:xfrm>
        </p:grpSpPr>
        <p:sp>
          <p:nvSpPr>
            <p:cNvPr id="15" name="Shape 13"/>
            <p:cNvSpPr/>
            <p:nvPr/>
          </p:nvSpPr>
          <p:spPr>
            <a:xfrm>
              <a:off x="365760" y="2221992"/>
              <a:ext cx="4114800" cy="1115568"/>
            </a:xfrm>
            <a:prstGeom prst="rect">
              <a:avLst/>
            </a:prstGeom>
            <a:solidFill>
              <a:srgbClr val="1A3050"/>
            </a:solidFill>
            <a:ln w="9525">
              <a:solidFill>
                <a:srgbClr val="243D5E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3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14"/>
            <p:cNvSpPr/>
            <p:nvPr/>
          </p:nvSpPr>
          <p:spPr>
            <a:xfrm>
              <a:off x="365760" y="2221992"/>
              <a:ext cx="64008" cy="1115568"/>
            </a:xfrm>
            <a:prstGeom prst="rect">
              <a:avLst/>
            </a:prstGeom>
            <a:solidFill>
              <a:srgbClr val="8B4A1C"/>
            </a:solidFill>
            <a:ln w="12700">
              <a:solidFill>
                <a:srgbClr val="8B4A1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5"/>
            <p:cNvSpPr/>
            <p:nvPr/>
          </p:nvSpPr>
          <p:spPr>
            <a:xfrm>
              <a:off x="548640" y="2313432"/>
              <a:ext cx="37947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Bootstrap 5 + CSS</a:t>
              </a:r>
              <a:endParaRPr lang="en-US" sz="14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548640" y="2624328"/>
              <a:ext cx="379476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8BA5B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Styling and layout for each page and elements</a:t>
              </a:r>
              <a:endParaRPr lang="en-US" sz="14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95B6D84-6F5B-784E-0C51-6BFFB462A47E}"/>
              </a:ext>
            </a:extLst>
          </p:cNvPr>
          <p:cNvGrpSpPr/>
          <p:nvPr/>
        </p:nvGrpSpPr>
        <p:grpSpPr>
          <a:xfrm>
            <a:off x="4843696" y="2281043"/>
            <a:ext cx="3806417" cy="1031962"/>
            <a:chOff x="4754880" y="2221992"/>
            <a:chExt cx="4114800" cy="1115568"/>
          </a:xfrm>
        </p:grpSpPr>
        <p:sp>
          <p:nvSpPr>
            <p:cNvPr id="19" name="Shape 17"/>
            <p:cNvSpPr/>
            <p:nvPr/>
          </p:nvSpPr>
          <p:spPr>
            <a:xfrm>
              <a:off x="4754880" y="2221992"/>
              <a:ext cx="4114800" cy="1115568"/>
            </a:xfrm>
            <a:prstGeom prst="rect">
              <a:avLst/>
            </a:prstGeom>
            <a:solidFill>
              <a:srgbClr val="1A3050"/>
            </a:solidFill>
            <a:ln w="9525">
              <a:solidFill>
                <a:srgbClr val="243D5E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3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8"/>
            <p:cNvSpPr/>
            <p:nvPr/>
          </p:nvSpPr>
          <p:spPr>
            <a:xfrm>
              <a:off x="4754880" y="2221992"/>
              <a:ext cx="64008" cy="1115568"/>
            </a:xfrm>
            <a:prstGeom prst="rect">
              <a:avLst/>
            </a:prstGeom>
            <a:solidFill>
              <a:srgbClr val="4A1B8B"/>
            </a:solidFill>
            <a:ln w="12700">
              <a:solidFill>
                <a:srgbClr val="4A1B8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4937760" y="2313432"/>
              <a:ext cx="37947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 err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localStorage</a:t>
              </a: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in CSV format</a:t>
              </a:r>
              <a:endParaRPr lang="en-US" sz="14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4937760" y="2624328"/>
              <a:ext cx="379476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8BA5B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persistence layer, no backend needed</a:t>
              </a:r>
              <a:endParaRPr lang="en-US" sz="140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3D2D9D1-BBED-22A7-211C-A979D7EBBE14}"/>
              </a:ext>
            </a:extLst>
          </p:cNvPr>
          <p:cNvGrpSpPr/>
          <p:nvPr/>
        </p:nvGrpSpPr>
        <p:grpSpPr>
          <a:xfrm>
            <a:off x="365759" y="3520325"/>
            <a:ext cx="3806417" cy="1031962"/>
            <a:chOff x="365760" y="2221992"/>
            <a:chExt cx="4114800" cy="1115568"/>
          </a:xfrm>
        </p:grpSpPr>
        <p:sp>
          <p:nvSpPr>
            <p:cNvPr id="32" name="Shape 13">
              <a:extLst>
                <a:ext uri="{FF2B5EF4-FFF2-40B4-BE49-F238E27FC236}">
                  <a16:creationId xmlns:a16="http://schemas.microsoft.com/office/drawing/2014/main" id="{FDD77DAB-7866-A657-896F-71A59B113D38}"/>
                </a:ext>
              </a:extLst>
            </p:cNvPr>
            <p:cNvSpPr/>
            <p:nvPr/>
          </p:nvSpPr>
          <p:spPr>
            <a:xfrm>
              <a:off x="365760" y="2221992"/>
              <a:ext cx="4114800" cy="1115568"/>
            </a:xfrm>
            <a:prstGeom prst="rect">
              <a:avLst/>
            </a:prstGeom>
            <a:solidFill>
              <a:srgbClr val="1A3050"/>
            </a:solidFill>
            <a:ln w="9525">
              <a:solidFill>
                <a:srgbClr val="243D5E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30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" name="Shape 14">
              <a:extLst>
                <a:ext uri="{FF2B5EF4-FFF2-40B4-BE49-F238E27FC236}">
                  <a16:creationId xmlns:a16="http://schemas.microsoft.com/office/drawing/2014/main" id="{74FF8C9A-E8D9-F17E-204E-E05816E1AC7E}"/>
                </a:ext>
              </a:extLst>
            </p:cNvPr>
            <p:cNvSpPr/>
            <p:nvPr/>
          </p:nvSpPr>
          <p:spPr>
            <a:xfrm>
              <a:off x="365760" y="2221992"/>
              <a:ext cx="64008" cy="1115568"/>
            </a:xfrm>
            <a:prstGeom prst="rect">
              <a:avLst/>
            </a:prstGeom>
            <a:solidFill>
              <a:srgbClr val="8B4A1C"/>
            </a:solidFill>
            <a:ln w="12700">
              <a:solidFill>
                <a:srgbClr val="8B4A1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15">
              <a:extLst>
                <a:ext uri="{FF2B5EF4-FFF2-40B4-BE49-F238E27FC236}">
                  <a16:creationId xmlns:a16="http://schemas.microsoft.com/office/drawing/2014/main" id="{1D1B3E6B-62AF-729B-ADD2-953F3EBF02A6}"/>
                </a:ext>
              </a:extLst>
            </p:cNvPr>
            <p:cNvSpPr/>
            <p:nvPr/>
          </p:nvSpPr>
          <p:spPr>
            <a:xfrm>
              <a:off x="548640" y="2313432"/>
              <a:ext cx="37947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Git &amp; GitHub</a:t>
              </a:r>
              <a:endParaRPr lang="en-US" sz="1400" dirty="0"/>
            </a:p>
          </p:txBody>
        </p:sp>
        <p:sp>
          <p:nvSpPr>
            <p:cNvPr id="35" name="Text 16">
              <a:extLst>
                <a:ext uri="{FF2B5EF4-FFF2-40B4-BE49-F238E27FC236}">
                  <a16:creationId xmlns:a16="http://schemas.microsoft.com/office/drawing/2014/main" id="{73C1D19A-5BF5-0591-1EAD-5E05BE779184}"/>
                </a:ext>
              </a:extLst>
            </p:cNvPr>
            <p:cNvSpPr/>
            <p:nvPr/>
          </p:nvSpPr>
          <p:spPr>
            <a:xfrm>
              <a:off x="548640" y="2624328"/>
              <a:ext cx="379476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8BA5B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Version control &amp; source code hosting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64008" cy="64008"/>
          </a:xfrm>
          <a:prstGeom prst="line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795528"/>
            <a:ext cx="8229600" cy="13716"/>
          </a:xfrm>
          <a:prstGeom prst="rect">
            <a:avLst/>
          </a:prstGeom>
          <a:solidFill>
            <a:srgbClr val="243D5E"/>
          </a:solidFill>
          <a:ln w="12700">
            <a:solidFill>
              <a:srgbClr val="243D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57200" y="905256"/>
            <a:ext cx="8229600" cy="3520440"/>
          </a:xfrm>
          <a:prstGeom prst="rect">
            <a:avLst/>
          </a:prstGeom>
          <a:solidFill>
            <a:srgbClr val="1A3050"/>
          </a:solidFill>
          <a:ln w="9525">
            <a:solidFill>
              <a:srgbClr val="243D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2920" y="10241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Breakdown &amp; Purpose</a:t>
            </a:r>
            <a:endParaRPr lang="en-US" sz="14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F890345-13AA-F8CE-B6F2-57B80A74A634}"/>
              </a:ext>
            </a:extLst>
          </p:cNvPr>
          <p:cNvGrpSpPr/>
          <p:nvPr/>
        </p:nvGrpSpPr>
        <p:grpSpPr>
          <a:xfrm>
            <a:off x="502920" y="1463040"/>
            <a:ext cx="3657600" cy="685800"/>
            <a:chOff x="502920" y="1463040"/>
            <a:chExt cx="3657600" cy="685800"/>
          </a:xfrm>
        </p:grpSpPr>
        <p:sp>
          <p:nvSpPr>
            <p:cNvPr id="9" name="Shape 7"/>
            <p:cNvSpPr/>
            <p:nvPr/>
          </p:nvSpPr>
          <p:spPr>
            <a:xfrm>
              <a:off x="502920" y="1463040"/>
              <a:ext cx="36576" cy="640080"/>
            </a:xfrm>
            <a:prstGeom prst="rect">
              <a:avLst/>
            </a:prstGeom>
            <a:solidFill>
              <a:srgbClr val="00B4A0"/>
            </a:solidFill>
            <a:ln w="12700">
              <a:solidFill>
                <a:srgbClr val="00B4A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640080" y="1463040"/>
              <a:ext cx="35204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Home (index.html)</a:t>
              </a:r>
              <a:endParaRPr lang="en-US" sz="13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40080" y="1737360"/>
              <a:ext cx="35204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BA5B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Shop intro, Latest Activity feed, Task dashboard, Latest stock preview, Music Trivia API.</a:t>
              </a:r>
              <a:endParaRPr lang="en-US" sz="1050" dirty="0"/>
            </a:p>
          </p:txBody>
        </p:sp>
      </p:grpSp>
      <p:sp>
        <p:nvSpPr>
          <p:cNvPr id="12" name="Shape 10"/>
          <p:cNvSpPr/>
          <p:nvPr/>
        </p:nvSpPr>
        <p:spPr>
          <a:xfrm>
            <a:off x="502920" y="2450592"/>
            <a:ext cx="36576" cy="640080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45059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(catalog.html)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72491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showroom of the stock, filterable by category (guitars or amps)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438144"/>
            <a:ext cx="36576" cy="640080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43814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(tasks.html)</a:t>
            </a:r>
          </a:p>
        </p:txBody>
      </p:sp>
      <p:sp>
        <p:nvSpPr>
          <p:cNvPr id="17" name="Text 15"/>
          <p:cNvSpPr/>
          <p:nvPr/>
        </p:nvSpPr>
        <p:spPr>
          <a:xfrm>
            <a:off x="633549" y="370789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8BA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task manager for business use, tasks are displayed in tabular format with sorting and filtering options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760" y="22128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245973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395935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780C3A1-D26F-5448-9B04-C705B617CA25}"/>
              </a:ext>
            </a:extLst>
          </p:cNvPr>
          <p:cNvGrpSpPr/>
          <p:nvPr/>
        </p:nvGrpSpPr>
        <p:grpSpPr>
          <a:xfrm>
            <a:off x="4846320" y="1463040"/>
            <a:ext cx="3657600" cy="685800"/>
            <a:chOff x="502920" y="1463040"/>
            <a:chExt cx="3657600" cy="685800"/>
          </a:xfrm>
        </p:grpSpPr>
        <p:sp>
          <p:nvSpPr>
            <p:cNvPr id="32" name="Shape 7">
              <a:extLst>
                <a:ext uri="{FF2B5EF4-FFF2-40B4-BE49-F238E27FC236}">
                  <a16:creationId xmlns:a16="http://schemas.microsoft.com/office/drawing/2014/main" id="{D485FD59-C5AD-944C-DD7F-E75D7D4D0FAF}"/>
                </a:ext>
              </a:extLst>
            </p:cNvPr>
            <p:cNvSpPr/>
            <p:nvPr/>
          </p:nvSpPr>
          <p:spPr>
            <a:xfrm>
              <a:off x="502920" y="1463040"/>
              <a:ext cx="36576" cy="640080"/>
            </a:xfrm>
            <a:prstGeom prst="rect">
              <a:avLst/>
            </a:prstGeom>
            <a:solidFill>
              <a:srgbClr val="00B4A0"/>
            </a:solidFill>
            <a:ln w="12700">
              <a:solidFill>
                <a:srgbClr val="00B4A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8">
              <a:extLst>
                <a:ext uri="{FF2B5EF4-FFF2-40B4-BE49-F238E27FC236}">
                  <a16:creationId xmlns:a16="http://schemas.microsoft.com/office/drawing/2014/main" id="{BB34150A-EC50-FC5D-7418-CF531C9AC9E9}"/>
                </a:ext>
              </a:extLst>
            </p:cNvPr>
            <p:cNvSpPr/>
            <p:nvPr/>
          </p:nvSpPr>
          <p:spPr>
            <a:xfrm>
              <a:off x="640080" y="1463040"/>
              <a:ext cx="35204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About (about.html)</a:t>
              </a:r>
              <a:endParaRPr lang="en-US" sz="1300" dirty="0"/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2525218F-4C6A-DB07-63FF-12F359379FC1}"/>
                </a:ext>
              </a:extLst>
            </p:cNvPr>
            <p:cNvSpPr/>
            <p:nvPr/>
          </p:nvSpPr>
          <p:spPr>
            <a:xfrm>
              <a:off x="640080" y="1737360"/>
              <a:ext cx="35204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BA5B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Team bios, trust statement and customer testimonials</a:t>
              </a:r>
              <a:endParaRPr lang="en-US" sz="105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B8279D5-1239-89C4-45B7-37C44B971286}"/>
              </a:ext>
            </a:extLst>
          </p:cNvPr>
          <p:cNvGrpSpPr/>
          <p:nvPr/>
        </p:nvGrpSpPr>
        <p:grpSpPr>
          <a:xfrm>
            <a:off x="4846320" y="2450592"/>
            <a:ext cx="3657600" cy="685800"/>
            <a:chOff x="502920" y="1463040"/>
            <a:chExt cx="3657600" cy="685800"/>
          </a:xfrm>
        </p:grpSpPr>
        <p:sp>
          <p:nvSpPr>
            <p:cNvPr id="36" name="Shape 7">
              <a:extLst>
                <a:ext uri="{FF2B5EF4-FFF2-40B4-BE49-F238E27FC236}">
                  <a16:creationId xmlns:a16="http://schemas.microsoft.com/office/drawing/2014/main" id="{A19BB49B-89CB-7726-D99A-AAABEC770F03}"/>
                </a:ext>
              </a:extLst>
            </p:cNvPr>
            <p:cNvSpPr/>
            <p:nvPr/>
          </p:nvSpPr>
          <p:spPr>
            <a:xfrm>
              <a:off x="502920" y="1463040"/>
              <a:ext cx="36576" cy="640080"/>
            </a:xfrm>
            <a:prstGeom prst="rect">
              <a:avLst/>
            </a:prstGeom>
            <a:solidFill>
              <a:srgbClr val="00B4A0"/>
            </a:solidFill>
            <a:ln w="12700">
              <a:solidFill>
                <a:srgbClr val="00B4A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8">
              <a:extLst>
                <a:ext uri="{FF2B5EF4-FFF2-40B4-BE49-F238E27FC236}">
                  <a16:creationId xmlns:a16="http://schemas.microsoft.com/office/drawing/2014/main" id="{81B7596C-48DB-1AA7-C9A7-F14980230D01}"/>
                </a:ext>
              </a:extLst>
            </p:cNvPr>
            <p:cNvSpPr/>
            <p:nvPr/>
          </p:nvSpPr>
          <p:spPr>
            <a:xfrm>
              <a:off x="640080" y="1463040"/>
              <a:ext cx="35204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Contact (contact.html)</a:t>
              </a:r>
              <a:endParaRPr lang="en-US" sz="1300" dirty="0"/>
            </a:p>
          </p:txBody>
        </p:sp>
        <p:sp>
          <p:nvSpPr>
            <p:cNvPr id="38" name="Text 9">
              <a:extLst>
                <a:ext uri="{FF2B5EF4-FFF2-40B4-BE49-F238E27FC236}">
                  <a16:creationId xmlns:a16="http://schemas.microsoft.com/office/drawing/2014/main" id="{AEAFA1D4-150D-1F63-C7E5-2FD9833153D3}"/>
                </a:ext>
              </a:extLst>
            </p:cNvPr>
            <p:cNvSpPr/>
            <p:nvPr/>
          </p:nvSpPr>
          <p:spPr>
            <a:xfrm>
              <a:off x="640080" y="1737360"/>
              <a:ext cx="35204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BA5B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Inquiry form, contact details, social links, Google Maps location</a:t>
              </a:r>
              <a:endParaRPr lang="en-US" sz="1050" dirty="0"/>
            </a:p>
          </p:txBody>
        </p:sp>
      </p:grpSp>
      <p:sp>
        <p:nvSpPr>
          <p:cNvPr id="40" name="Text 4">
            <a:extLst>
              <a:ext uri="{FF2B5EF4-FFF2-40B4-BE49-F238E27FC236}">
                <a16:creationId xmlns:a16="http://schemas.microsoft.com/office/drawing/2014/main" id="{CC41278E-0A36-B45E-6359-C5694AA6C767}"/>
              </a:ext>
            </a:extLst>
          </p:cNvPr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Nick’s Guitar Emporium  ·  Nikolaos Vamvakas  ·  ITC4214  ·  Summer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069080" y="1783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35204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40965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Visit My Online Store!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Graphic 8" descr="Play outline">
            <a:extLst>
              <a:ext uri="{FF2B5EF4-FFF2-40B4-BE49-F238E27FC236}">
                <a16:creationId xmlns:a16="http://schemas.microsoft.com/office/drawing/2014/main" id="{97609F72-2F1E-D32C-6D72-53EF3E2852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52775" y="630936"/>
            <a:ext cx="2838450" cy="2838450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3118BCD2-CD6A-4EE2-20D5-7F9BA25DD0F4}"/>
              </a:ext>
            </a:extLst>
          </p:cNvPr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Nick’s Guitar Emporium  ·  Nikolaos Vamvakas  ·  ITC4214  ·  Summer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392160" cy="305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20040" y="230200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2987040"/>
            <a:ext cx="4114800" cy="36576"/>
          </a:xfrm>
          <a:prstGeom prst="rect">
            <a:avLst/>
          </a:prstGeom>
          <a:solidFill>
            <a:srgbClr val="243D5E"/>
          </a:solidFill>
          <a:ln w="12700">
            <a:solidFill>
              <a:srgbClr val="243D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9998F6AC-6632-9913-84DA-2418C7C7E853}"/>
              </a:ext>
            </a:extLst>
          </p:cNvPr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Nick’s Guitar Emporium  ·  Nikolaos Vamvakas  ·  ITC4214  ·  Summer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339</Words>
  <Application>Microsoft Office PowerPoint</Application>
  <PresentationFormat>On-screen Show (16:9)</PresentationFormat>
  <Paragraphs>57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quote-cjk-patch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Agorapolis — Project Presentation</dc:title>
  <dc:subject>PptxGenJS Presentation</dc:subject>
  <dc:creator>The Three Nerds</dc:creator>
  <cp:lastModifiedBy>Nikolaos Vamvakas</cp:lastModifiedBy>
  <cp:revision>86</cp:revision>
  <dcterms:created xsi:type="dcterms:W3CDTF">2026-04-20T10:35:16Z</dcterms:created>
  <dcterms:modified xsi:type="dcterms:W3CDTF">2026-06-21T16:44:06Z</dcterms:modified>
</cp:coreProperties>
</file>